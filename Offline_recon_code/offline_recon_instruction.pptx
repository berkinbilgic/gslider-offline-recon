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72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8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91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16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34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28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86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06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71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37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84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6AF3D-AD5F-4847-A6BB-A491C33A1291}" type="datetimeFigureOut">
              <a:rPr lang="zh-CN" altLang="en-US" smtClean="0"/>
              <a:t>2018/11/15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29297-CD80-4466-8ADC-76A9DAFC1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99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win.Setsompop@mgh.harvard.edu" TargetMode="External"/><Relationship Id="rId2" Type="http://schemas.openxmlformats.org/officeDocument/2006/relationships/hyperlink" Target="mailto:cliao2@mgh.Harvard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503" y="1122363"/>
            <a:ext cx="12087497" cy="1368288"/>
          </a:xfrm>
        </p:spPr>
        <p:txBody>
          <a:bodyPr>
            <a:normAutofit fontScale="90000"/>
          </a:bodyPr>
          <a:lstStyle/>
          <a:p>
            <a:r>
              <a:rPr lang="en-US" altLang="zh-CN" sz="4800" smtClean="0"/>
              <a:t>Offline reconstruction toolbox </a:t>
            </a:r>
            <a:r>
              <a:rPr lang="en-US" altLang="zh-CN" sz="4800" dirty="0" smtClean="0"/>
              <a:t>for </a:t>
            </a:r>
            <a:r>
              <a:rPr lang="en-US" altLang="zh-CN" sz="4800" dirty="0" err="1" smtClean="0"/>
              <a:t>gSlider-SMS</a:t>
            </a:r>
            <a:r>
              <a:rPr lang="en-US" altLang="zh-CN" sz="4800" dirty="0" smtClean="0"/>
              <a:t> data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Congyu </a:t>
            </a:r>
            <a:r>
              <a:rPr lang="en-US" altLang="zh-CN" dirty="0" smtClean="0"/>
              <a:t>Liao, Ph.D., </a:t>
            </a:r>
            <a:r>
              <a:rPr lang="en-US" altLang="zh-CN" dirty="0" err="1" smtClean="0">
                <a:hlinkClick r:id="rId2"/>
              </a:rPr>
              <a:t>cliao2@mgh.Harvard.edu</a:t>
            </a:r>
            <a:endParaRPr lang="en-US" altLang="zh-CN" dirty="0" smtClean="0"/>
          </a:p>
          <a:p>
            <a:r>
              <a:rPr lang="en-US" altLang="zh-CN" dirty="0" err="1" smtClean="0"/>
              <a:t>Kawin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Setsompop</a:t>
            </a:r>
            <a:r>
              <a:rPr lang="en-US" altLang="zh-CN" dirty="0"/>
              <a:t>, Ph.D., </a:t>
            </a:r>
            <a:r>
              <a:rPr lang="en-US" altLang="zh-CN" dirty="0" err="1" smtClean="0">
                <a:hlinkClick r:id="rId3"/>
              </a:rPr>
              <a:t>Kawin.Setsompop@mgh.harvard.edu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46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Preparation </a:t>
            </a:r>
          </a:p>
          <a:p>
            <a:r>
              <a:rPr lang="en-US" dirty="0" smtClean="0"/>
              <a:t>Loading </a:t>
            </a:r>
            <a:r>
              <a:rPr lang="en-US" dirty="0" err="1" smtClean="0"/>
              <a:t>gSlider</a:t>
            </a:r>
            <a:r>
              <a:rPr lang="en-US" dirty="0" smtClean="0"/>
              <a:t> data</a:t>
            </a:r>
          </a:p>
          <a:p>
            <a:r>
              <a:rPr lang="en-US" dirty="0" smtClean="0"/>
              <a:t>Loading </a:t>
            </a:r>
            <a:r>
              <a:rPr lang="en-US" dirty="0" err="1" smtClean="0"/>
              <a:t>B1</a:t>
            </a:r>
            <a:r>
              <a:rPr lang="en-US" dirty="0" smtClean="0"/>
              <a:t> maps</a:t>
            </a:r>
          </a:p>
          <a:p>
            <a:r>
              <a:rPr lang="en-US" dirty="0" err="1" smtClean="0"/>
              <a:t>gSlider</a:t>
            </a:r>
            <a:r>
              <a:rPr lang="en-US" dirty="0" smtClean="0"/>
              <a:t> reconstruction with </a:t>
            </a:r>
            <a:r>
              <a:rPr lang="en-US" dirty="0" err="1" smtClean="0"/>
              <a:t>B1</a:t>
            </a:r>
            <a:r>
              <a:rPr lang="en-US" dirty="0" smtClean="0"/>
              <a:t> &amp; </a:t>
            </a:r>
            <a:r>
              <a:rPr lang="en-US" dirty="0" err="1" smtClean="0"/>
              <a:t>T1</a:t>
            </a:r>
            <a:r>
              <a:rPr lang="en-US" dirty="0" smtClean="0"/>
              <a:t> correction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1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96687" y="2264230"/>
            <a:ext cx="110424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smtClean="0">
                <a:solidFill>
                  <a:srgbClr val="FF0000"/>
                </a:solidFill>
              </a:rPr>
              <a:t>Warning: your workstation should have more than </a:t>
            </a:r>
            <a:r>
              <a:rPr lang="en-US" altLang="zh-CN" sz="3600" b="1" dirty="0" err="1" smtClean="0">
                <a:solidFill>
                  <a:srgbClr val="FF0000"/>
                </a:solidFill>
              </a:rPr>
              <a:t>16GB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 RAM and 32 GB storage to reconstruct the </a:t>
            </a:r>
            <a:r>
              <a:rPr lang="en-US" altLang="zh-CN" sz="3600" b="1" dirty="0" err="1" smtClean="0">
                <a:solidFill>
                  <a:srgbClr val="FF0000"/>
                </a:solidFill>
              </a:rPr>
              <a:t>gSlider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 data!!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35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Preparation: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00" y="1651415"/>
            <a:ext cx="7197972" cy="146625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254034" y="1651415"/>
            <a:ext cx="6792686" cy="3602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8046720" y="1541417"/>
            <a:ext cx="992777" cy="290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074331" y="1365349"/>
            <a:ext cx="2882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The magnitude images of </a:t>
            </a:r>
            <a:r>
              <a:rPr lang="en-US" altLang="zh-CN" dirty="0" err="1" smtClean="0">
                <a:solidFill>
                  <a:srgbClr val="FF0000"/>
                </a:solidFill>
              </a:rPr>
              <a:t>gSlider</a:t>
            </a:r>
            <a:r>
              <a:rPr lang="en-US" altLang="zh-CN" dirty="0" smtClean="0">
                <a:solidFill>
                  <a:srgbClr val="FF0000"/>
                </a:solidFill>
              </a:rPr>
              <a:t> data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54034" y="2037753"/>
            <a:ext cx="6792686" cy="29178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8046720" y="2217886"/>
            <a:ext cx="992777" cy="11165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039497" y="2144876"/>
            <a:ext cx="2917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B0F0"/>
                </a:solidFill>
              </a:rPr>
              <a:t>The phase images of </a:t>
            </a:r>
            <a:r>
              <a:rPr lang="en-US" altLang="zh-CN" dirty="0" err="1" smtClean="0">
                <a:solidFill>
                  <a:srgbClr val="00B0F0"/>
                </a:solidFill>
              </a:rPr>
              <a:t>gSlider</a:t>
            </a:r>
            <a:r>
              <a:rPr lang="en-US" altLang="zh-CN" dirty="0" smtClean="0">
                <a:solidFill>
                  <a:srgbClr val="00B0F0"/>
                </a:solidFill>
              </a:rPr>
              <a:t> data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54034" y="2725286"/>
            <a:ext cx="6792686" cy="2917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8046719" y="2900546"/>
            <a:ext cx="992777" cy="1116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9074331" y="2933002"/>
            <a:ext cx="253419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Calculated </a:t>
            </a:r>
            <a:r>
              <a:rPr lang="en-US" altLang="zh-CN" dirty="0" err="1" smtClean="0"/>
              <a:t>B1</a:t>
            </a:r>
            <a:r>
              <a:rPr lang="en-US" altLang="zh-CN" dirty="0" smtClean="0"/>
              <a:t> maps with matched slice </a:t>
            </a:r>
            <a:r>
              <a:rPr lang="en-US" altLang="zh-CN" dirty="0" err="1" smtClean="0"/>
              <a:t>FOV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219199" y="3962400"/>
            <a:ext cx="85866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 smtClean="0"/>
              <a:t>Convert all acquired </a:t>
            </a:r>
            <a:r>
              <a:rPr lang="en-US" altLang="zh-CN" sz="2000" dirty="0" err="1" smtClean="0"/>
              <a:t>dicoms</a:t>
            </a:r>
            <a:r>
              <a:rPr lang="en-US" altLang="zh-CN" sz="2000" dirty="0" smtClean="0"/>
              <a:t> to </a:t>
            </a:r>
            <a:r>
              <a:rPr lang="en-US" altLang="zh-CN" sz="2000" dirty="0" err="1" smtClean="0"/>
              <a:t>nifti</a:t>
            </a:r>
            <a:r>
              <a:rPr lang="en-US" altLang="zh-CN" sz="2000" dirty="0" smtClean="0"/>
              <a:t> (.</a:t>
            </a:r>
            <a:r>
              <a:rPr lang="en-US" altLang="zh-CN" sz="2000" dirty="0" err="1" smtClean="0"/>
              <a:t>nii</a:t>
            </a:r>
            <a:r>
              <a:rPr lang="en-US" altLang="zh-CN" sz="2000" dirty="0" smtClean="0"/>
              <a:t>) data. (e.g. use </a:t>
            </a:r>
            <a:r>
              <a:rPr lang="en-US" altLang="zh-CN" sz="2000" dirty="0" err="1" smtClean="0"/>
              <a:t>mricron</a:t>
            </a:r>
            <a:r>
              <a:rPr lang="en-US" altLang="zh-CN" sz="2000" dirty="0" smtClean="0"/>
              <a:t> software to convert </a:t>
            </a:r>
            <a:r>
              <a:rPr lang="en-US" altLang="zh-CN" sz="2000" dirty="0" err="1" smtClean="0"/>
              <a:t>dicom</a:t>
            </a:r>
            <a:r>
              <a:rPr lang="en-US" altLang="zh-CN" sz="2000" dirty="0" smtClean="0"/>
              <a:t> data)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 smtClean="0"/>
              <a:t>Use the magnitude images of </a:t>
            </a:r>
            <a:r>
              <a:rPr lang="en-US" altLang="zh-CN" sz="2000" dirty="0" err="1" smtClean="0"/>
              <a:t>gSlider</a:t>
            </a:r>
            <a:r>
              <a:rPr lang="en-US" altLang="zh-CN" sz="2000" dirty="0" smtClean="0"/>
              <a:t> data to generate brain mask by using </a:t>
            </a:r>
            <a:r>
              <a:rPr lang="en-US" altLang="zh-CN" sz="2000" dirty="0" err="1" smtClean="0"/>
              <a:t>FSL</a:t>
            </a:r>
            <a:r>
              <a:rPr lang="en-US" altLang="zh-CN" sz="2000" dirty="0" smtClean="0"/>
              <a:t> BET function. (e.g. use such BET function to create a brain mask:  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b</a:t>
            </a:r>
            <a:r>
              <a:rPr lang="en-US" altLang="zh-CN" sz="2000" dirty="0" smtClean="0">
                <a:solidFill>
                  <a:srgbClr val="FF0000"/>
                </a:solidFill>
              </a:rPr>
              <a:t>et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xxxx.nii</a:t>
            </a:r>
            <a:r>
              <a:rPr lang="en-US" altLang="zh-CN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f_out.nii</a:t>
            </a:r>
            <a:r>
              <a:rPr lang="en-US" altLang="zh-CN" sz="2000" dirty="0" smtClean="0">
                <a:solidFill>
                  <a:srgbClr val="FF0000"/>
                </a:solidFill>
              </a:rPr>
              <a:t> -f .25 -m (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xxx.nii</a:t>
            </a:r>
            <a:r>
              <a:rPr lang="en-US" altLang="zh-CN" sz="2000" dirty="0" smtClean="0">
                <a:solidFill>
                  <a:srgbClr val="FF0000"/>
                </a:solidFill>
              </a:rPr>
              <a:t> is the name of the magnitude images)</a:t>
            </a:r>
          </a:p>
          <a:p>
            <a:pPr marL="457200" indent="-457200">
              <a:buAutoNum type="arabicPeriod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912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Loading </a:t>
            </a:r>
            <a:r>
              <a:rPr lang="en-US" dirty="0" err="1" smtClean="0"/>
              <a:t>gSlider</a:t>
            </a:r>
            <a:r>
              <a:rPr lang="en-US" dirty="0" smtClean="0"/>
              <a:t> data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96" y="1329182"/>
            <a:ext cx="4961905" cy="250476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19199" y="3962400"/>
            <a:ext cx="85866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 smtClean="0"/>
              <a:t>Run “</a:t>
            </a:r>
            <a:r>
              <a:rPr lang="en-US" altLang="zh-CN" sz="2000" dirty="0" err="1" smtClean="0"/>
              <a:t>gSlider_load.m</a:t>
            </a:r>
            <a:r>
              <a:rPr lang="en-US" altLang="zh-CN" sz="2000" dirty="0" smtClean="0"/>
              <a:t>”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FontTx/>
              <a:buAutoNum type="arabicPeriod"/>
            </a:pPr>
            <a:r>
              <a:rPr lang="en-US" altLang="zh-CN" sz="2000" dirty="0" smtClean="0"/>
              <a:t>Select  </a:t>
            </a:r>
            <a:r>
              <a:rPr lang="en-US" altLang="zh-CN" sz="2000" dirty="0" err="1" smtClean="0"/>
              <a:t>nifti</a:t>
            </a:r>
            <a:r>
              <a:rPr lang="en-US" altLang="zh-CN" sz="2000" dirty="0" smtClean="0"/>
              <a:t> file of magnitude data</a:t>
            </a:r>
          </a:p>
          <a:p>
            <a:pPr marL="457200" indent="-457200">
              <a:buFontTx/>
              <a:buAutoNum type="arabicPeriod"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nifiti</a:t>
            </a:r>
            <a:r>
              <a:rPr lang="en-US" altLang="zh-CN" sz="2000" dirty="0" smtClean="0"/>
              <a:t> file of phase data</a:t>
            </a:r>
          </a:p>
          <a:p>
            <a:pPr marL="457200" indent="-457200">
              <a:buAutoNum type="arabicPeriod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09" y="1295409"/>
            <a:ext cx="3737900" cy="25385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507178" y="223839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step1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92184" y="2250822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step2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986" y="1292294"/>
            <a:ext cx="3677991" cy="253853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706232" y="225839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step3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30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98" y="1352453"/>
            <a:ext cx="5000000" cy="228571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Loading </a:t>
            </a:r>
            <a:r>
              <a:rPr lang="en-US" dirty="0" err="1" smtClean="0"/>
              <a:t>B1</a:t>
            </a:r>
            <a:r>
              <a:rPr lang="en-US" dirty="0" smtClean="0"/>
              <a:t> maps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219199" y="3962400"/>
            <a:ext cx="85866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 smtClean="0"/>
              <a:t>Run “</a:t>
            </a:r>
            <a:r>
              <a:rPr lang="en-US" altLang="zh-CN" sz="2000" dirty="0" err="1" smtClean="0"/>
              <a:t>B1map_load.m</a:t>
            </a:r>
            <a:r>
              <a:rPr lang="en-US" altLang="zh-CN" sz="2000" dirty="0" smtClean="0"/>
              <a:t>”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FontTx/>
              <a:buAutoNum type="arabicPeriod"/>
            </a:pPr>
            <a:r>
              <a:rPr lang="en-US" altLang="zh-CN" sz="2000" dirty="0" smtClean="0"/>
              <a:t>Select  </a:t>
            </a:r>
            <a:r>
              <a:rPr lang="en-US" altLang="zh-CN" sz="2000" dirty="0" err="1" smtClean="0"/>
              <a:t>nifiti</a:t>
            </a:r>
            <a:r>
              <a:rPr lang="en-US" altLang="zh-CN" sz="2000" dirty="0" smtClean="0"/>
              <a:t> file of </a:t>
            </a:r>
            <a:r>
              <a:rPr lang="en-US" altLang="zh-CN" sz="2000" dirty="0" err="1" smtClean="0"/>
              <a:t>B1</a:t>
            </a:r>
            <a:r>
              <a:rPr lang="en-US" altLang="zh-CN" sz="2000" dirty="0" smtClean="0"/>
              <a:t> maps</a:t>
            </a:r>
          </a:p>
          <a:p>
            <a:pPr marL="457200" indent="-457200">
              <a:buFontTx/>
              <a:buAutoNum type="arabicPeriod"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altLang="zh-CN" sz="2000" dirty="0" smtClean="0"/>
              <a:t>Select generated brain mask</a:t>
            </a:r>
          </a:p>
          <a:p>
            <a:pPr marL="457200" indent="-457200">
              <a:buAutoNum type="arabicPeriod"/>
            </a:pP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3507178" y="223839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step1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588" y="1173272"/>
            <a:ext cx="3651889" cy="24873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983048" y="220473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step2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477" y="1174411"/>
            <a:ext cx="3598470" cy="2505444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706232" y="225839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step3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0196" y="5687016"/>
            <a:ext cx="119617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 smtClean="0">
                <a:solidFill>
                  <a:srgbClr val="FF0000"/>
                </a:solidFill>
              </a:rPr>
              <a:t>Warning: The slice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FOV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[(slice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thickness+slice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gap)*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Nslices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] of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B1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maps should match the slice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FOV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of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gSlider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data!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88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2" y="1263294"/>
            <a:ext cx="4609524" cy="227619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504551" cy="1143000"/>
          </a:xfrm>
        </p:spPr>
        <p:txBody>
          <a:bodyPr>
            <a:normAutofit/>
          </a:bodyPr>
          <a:lstStyle/>
          <a:p>
            <a:r>
              <a:rPr lang="en-US" altLang="zh-CN" dirty="0" err="1" smtClean="0"/>
              <a:t>gSlider</a:t>
            </a:r>
            <a:r>
              <a:rPr lang="en-US" altLang="zh-CN" dirty="0" smtClean="0"/>
              <a:t> reconstruction with </a:t>
            </a:r>
            <a:r>
              <a:rPr lang="en-US" altLang="zh-CN" dirty="0" err="1" smtClean="0"/>
              <a:t>B1</a:t>
            </a:r>
            <a:r>
              <a:rPr lang="en-US" altLang="zh-CN" dirty="0" smtClean="0"/>
              <a:t> &amp; </a:t>
            </a:r>
            <a:r>
              <a:rPr lang="en-US" altLang="zh-CN" dirty="0" err="1" smtClean="0"/>
              <a:t>T1</a:t>
            </a:r>
            <a:r>
              <a:rPr lang="en-US" altLang="zh-CN" dirty="0" smtClean="0"/>
              <a:t> correction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19199" y="3962400"/>
            <a:ext cx="97884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 smtClean="0"/>
              <a:t>Run “</a:t>
            </a:r>
            <a:r>
              <a:rPr lang="en-US" altLang="zh-CN" sz="2000" dirty="0" err="1" smtClean="0"/>
              <a:t>demo_gSlider_B1corr_v4.m</a:t>
            </a:r>
            <a:r>
              <a:rPr lang="en-US" altLang="zh-CN" sz="2000" dirty="0" smtClean="0"/>
              <a:t>”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FontTx/>
              <a:buAutoNum type="arabicPeriod"/>
            </a:pPr>
            <a:r>
              <a:rPr lang="en-US" altLang="zh-CN" sz="2000" dirty="0" smtClean="0"/>
              <a:t>Select slice profile matrix “RF_5x_90thick_1p00t_4p3mm_Verse1_CLv1_B1_Mzsim_scale1p0_Mout.mat”</a:t>
            </a:r>
          </a:p>
          <a:p>
            <a:pPr marL="457200" indent="-457200">
              <a:buFontTx/>
              <a:buAutoNum type="arabicPeriod"/>
            </a:pPr>
            <a:endParaRPr lang="en-US" altLang="zh-CN" sz="2000" dirty="0"/>
          </a:p>
          <a:p>
            <a:pPr marL="457200" indent="-457200">
              <a:buFontTx/>
              <a:buAutoNum type="arabicPeriod"/>
            </a:pPr>
            <a:r>
              <a:rPr lang="en-US" altLang="zh-CN" sz="2000" dirty="0" smtClean="0"/>
              <a:t>Wait and get final reconstructed super-resolution images: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“</a:t>
            </a:r>
            <a:r>
              <a:rPr lang="en-US" altLang="zh-CN" sz="2000" dirty="0" err="1" smtClean="0"/>
              <a:t>Img_SuperRes</a:t>
            </a:r>
            <a:r>
              <a:rPr lang="en-US" altLang="zh-CN" sz="2000" dirty="0" smtClean="0"/>
              <a:t>”</a:t>
            </a:r>
          </a:p>
          <a:p>
            <a:pPr marL="457200" indent="-457200">
              <a:buFontTx/>
              <a:buAutoNum type="arabicPeriod"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3507178" y="223839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step1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216" y="1106689"/>
            <a:ext cx="3302601" cy="230398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983048" y="2204737"/>
            <a:ext cx="2255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 err="1" smtClean="0">
                <a:solidFill>
                  <a:srgbClr val="FF0000"/>
                </a:solidFill>
              </a:rPr>
              <a:t>step2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80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239</Words>
  <Application>Microsoft Office PowerPoint</Application>
  <PresentationFormat>宽屏</PresentationFormat>
  <Paragraphs>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Office 主题</vt:lpstr>
      <vt:lpstr>Offline reconstruction toolbox for gSlider-SMS data</vt:lpstr>
      <vt:lpstr>Overview</vt:lpstr>
      <vt:lpstr>PowerPoint 演示文稿</vt:lpstr>
      <vt:lpstr>Preparation:</vt:lpstr>
      <vt:lpstr>Loading gSlider data</vt:lpstr>
      <vt:lpstr>Loading B1 maps</vt:lpstr>
      <vt:lpstr>gSlider reconstruction with B1 &amp; T1 correction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reconstruction for gSlider-SMS data</dc:title>
  <dc:creator>Congyu Liao</dc:creator>
  <cp:lastModifiedBy>Congyu Liao</cp:lastModifiedBy>
  <cp:revision>8</cp:revision>
  <dcterms:created xsi:type="dcterms:W3CDTF">2018-09-21T18:45:49Z</dcterms:created>
  <dcterms:modified xsi:type="dcterms:W3CDTF">2018-11-15T22:33:31Z</dcterms:modified>
</cp:coreProperties>
</file>